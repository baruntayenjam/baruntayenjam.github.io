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Claude Certified Architect – Foundations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CCAR-F Complete Study Deck · 5 Domains · Exam Traps Marked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Facts (Memorize)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60 questions · 120 minutes · $125 · Pearson VUE</a:t>
            </a:r>
          </a:p>
          <a:p>
            <a:pPr/>
            <a:r>
              <a:rPr sz="2400" b="1"/>
              <a:t>Pass = 720 / 1000 scaled</a:t>
            </a:r>
          </a:p>
          <a:p>
            <a:pPr/>
            <a:r>
              <a:rPr sz="2000"/>
              <a:t>Multiple choice + multi-response (question says how many to pick)</a:t>
            </a:r>
          </a:p>
          <a:p>
            <a:pPr/>
            <a:r>
              <a:rPr sz="2000"/>
              <a:t>Valid 12 months · free renewal assessment</a:t>
            </a:r>
          </a:p>
          <a:p>
            <a:pPr/>
            <a:r>
              <a:rPr sz="2000"/>
              <a:t>Retakes: wait 14 / 30 / 90 days · max 4 per year</a:t>
            </a:r>
          </a:p>
          <a:p>
            <a:pPr/>
            <a:r>
              <a:rPr sz="2200" b="1"/>
              <a:t>Scenario-based. Tests JUDGMENT, not memorization</a:t>
            </a:r>
          </a:p>
          <a:p>
            <a:pPr/>
            <a:r>
              <a:rPr sz="2000"/>
              <a:t>Covers: Claude Code, Agent SDK, Claude API, MCP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5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1 · Agentic Architecture &amp; Orchestration — 27%</a:t>
            </a:r>
          </a:p>
          <a:p>
            <a:pPr/>
            <a:r>
              <a:rPr sz="1800"/>
              <a:t>Loops, multi-agent, subagents, hooks, sessions</a:t>
            </a:r>
          </a:p>
          <a:p>
            <a:pPr/>
            <a:r>
              <a:rPr sz="2400" b="1"/>
              <a:t>2 · Tool Design &amp; MCP Integration — 18%</a:t>
            </a:r>
          </a:p>
          <a:p>
            <a:pPr/>
            <a:r>
              <a:rPr sz="1800"/>
              <a:t>Tool descriptions, errors, tool_choice, MCP servers</a:t>
            </a:r>
          </a:p>
          <a:p>
            <a:pPr/>
            <a:r>
              <a:rPr sz="2400" b="1"/>
              <a:t>3 · Claude Code Configuration &amp; Workflows — 20%</a:t>
            </a:r>
          </a:p>
          <a:p>
            <a:pPr/>
            <a:r>
              <a:rPr sz="1800"/>
              <a:t>CLAUDE.md, skills, rules, plan mode, CI/CD</a:t>
            </a:r>
          </a:p>
          <a:p>
            <a:pPr/>
            <a:r>
              <a:rPr sz="2400" b="1"/>
              <a:t>4 · Prompt Engineering &amp; Structured Output — 20%</a:t>
            </a:r>
          </a:p>
          <a:p>
            <a:pPr/>
            <a:r>
              <a:rPr sz="1800"/>
              <a:t>Criteria, few-shot, schemas, batches, review</a:t>
            </a:r>
          </a:p>
          <a:p>
            <a:pPr/>
            <a:r>
              <a:rPr sz="2400" b="1"/>
              <a:t>5 · Context Management &amp; Reliability — 15%</a:t>
            </a:r>
          </a:p>
          <a:p>
            <a:pPr/>
            <a:r>
              <a:rPr sz="1800"/>
              <a:t>Context window, escalation, errors, human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1 — Agentic Architecture (27%)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The Agentic Loop —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Claude = smart worker locked in a room. Acts only via TOOLS you give it</a:t>
            </a:r>
          </a:p>
          <a:p>
            <a:pPr/>
            <a:r>
              <a:rPr sz="2200"/>
              <a:t>Loop: Claude asks for tool → you run it → result goes back → Claude thinks again</a:t>
            </a:r>
          </a:p>
          <a:p>
            <a:pPr/>
            <a:r>
              <a:rPr sz="2200"/>
              <a:t>Repeats until Claude gives final answer</a:t>
            </a:r>
          </a:p>
          <a:p>
            <a:pPr/>
            <a:r>
              <a:rPr sz="2400" b="1"/>
              <a:t>Every reply carries a flag: stop_reason</a:t>
            </a:r>
          </a:p>
          <a:p>
            <a:pPr/>
            <a:r>
              <a:rPr sz="2200"/>
              <a:t>stop_reason = "tool_use" → run the tool, feed result back, continue</a:t>
            </a:r>
          </a:p>
          <a:p>
            <a:pPr/>
            <a:r>
              <a:rPr sz="2200"/>
              <a:t>stop_reason = "end_turn" → done. Show answer. Stop loop</a:t>
            </a:r>
          </a:p>
          <a:p>
            <a:pPr/>
            <a:r>
              <a:rPr sz="2200"/>
              <a:t>Tool results APPEND to conversation history — Claude reasons over them next turn</a:t>
            </a:r>
          </a:p>
          <a:p>
            <a:pPr/>
            <a:r>
              <a:rPr sz="2200"/>
              <a:t>Claude decides WHICH tool next = model-driven (the 'agentic' part)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Loop — Exam Traps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1">
                <a:solidFill>
                  <a:srgbClr val="C00000"/>
                </a:solidFill>
              </a:rPr>
              <a:t>TRAP: parsing Claude's TEXT ('I'm done') to detect completion → WRONG</a:t>
            </a:r>
          </a:p>
          <a:p>
            <a:pPr/>
            <a:r>
              <a:rPr sz="2000"/>
              <a:t>Only stop_reason is reliable</a:t>
            </a:r>
          </a:p>
          <a:p>
            <a:pPr/>
            <a:r>
              <a:rPr sz="2200" b="1">
                <a:solidFill>
                  <a:srgbClr val="C00000"/>
                </a:solidFill>
              </a:rPr>
              <a:t>TRAP: iteration cap (e.g. max 25 loops) as PRIMARY stop mechanism → WRONG</a:t>
            </a:r>
          </a:p>
          <a:p>
            <a:pPr/>
            <a:r>
              <a:rPr sz="2000"/>
              <a:t>Cap = safety net only, never the design</a:t>
            </a:r>
          </a:p>
          <a:p>
            <a:pPr/>
            <a:r>
              <a:rPr sz="2200" b="1">
                <a:solidFill>
                  <a:srgbClr val="C00000"/>
                </a:solidFill>
              </a:rPr>
              <a:t>TRAP: 'answer contains text = finished' → WRONG</a:t>
            </a:r>
          </a:p>
          <a:p>
            <a:pPr/>
            <a:r>
              <a:rPr sz="2000"/>
              <a:t>Claude can output text AND tool calls in the same turn</a:t>
            </a:r>
          </a:p>
          <a:p>
            <a:pPr/>
            <a:r>
              <a:rPr sz="2200" b="1">
                <a:solidFill>
                  <a:srgbClr val="C00000"/>
                </a:solidFill>
              </a:rPr>
              <a:t>TRAP: pre-programmed fixed tool sequence → WRONG</a:t>
            </a:r>
          </a:p>
          <a:p>
            <a:pPr/>
            <a:r>
              <a:rPr sz="2400" b="1"/>
              <a:t>Correct answer is ALWAYS: check stop_reason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Multi-Agent — Hub and Spoke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Boss = coordinator. Specialists = subagents</a:t>
            </a:r>
          </a:p>
          <a:p>
            <a:pPr/>
            <a:r>
              <a:rPr sz="2400" b="1"/>
              <a:t>Hub-and-spoke: ALL communication goes through boss</a:t>
            </a:r>
          </a:p>
          <a:p>
            <a:pPr/>
            <a:r>
              <a:rPr sz="2400" b="1"/>
              <a:t>Subagents NEVER talk directly to each other</a:t>
            </a:r>
          </a:p>
          <a:p>
            <a:pPr/>
            <a:r>
              <a:rPr sz="2000"/>
              <a:t>Why: observability, consistent error handling, controlled flow</a:t>
            </a:r>
          </a:p>
          <a:p>
            <a:pPr/>
            <a:r>
              <a:rPr sz="2200"/>
              <a:t>Boss jobs: split work, delegate, collect, aggregate, decide who to invoke</a:t>
            </a:r>
          </a:p>
          <a:p>
            <a:pPr/>
            <a:r>
              <a:rPr sz="2200"/>
              <a:t>Boss picks team per request — simple query = few/no subagents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always running the full pipeline for every request → wasteful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Subagents Start Blank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Subagents do NOT inherit boss's conversation or memory</a:t>
            </a:r>
          </a:p>
          <a:p>
            <a:pPr/>
            <a:r>
              <a:rPr sz="2400" b="1"/>
              <a:t>Whatever subagent needs must be IN THE TASK PROMPT itself</a:t>
            </a:r>
          </a:p>
          <a:p>
            <a:pPr/>
            <a:r>
              <a:rPr sz="2200"/>
              <a:t>Search agent found facts → synthesis agent needs them → boss PASTES facts into synthesis prompt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'subagents share memory automatically' → WRONG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splitting tasks TOO NARROW → incomplete coverage, gaps between subtasks</a:t>
            </a:r>
          </a:p>
          <a:p>
            <a:pPr/>
            <a:r>
              <a:rPr sz="2000"/>
              <a:t>Partition scope to MINIMIZE duplication (distinct subtopics per agent)</a:t>
            </a:r>
          </a:p>
          <a:p>
            <a:pPr/>
            <a:r>
              <a:rPr sz="2200"/>
              <a:t>Iterative refinement: boss reviews synthesis → finds gap → re-delegates targeted query → re-synthesizes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Task Tool &amp; Parallel Spawning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Task tool = how boss spawns subagents</a:t>
            </a:r>
          </a:p>
          <a:p>
            <a:pPr/>
            <a:r>
              <a:rPr sz="2400" b="1"/>
              <a:t>Boss's allowedTools MUST include "Task" or it cannot spawn anyone</a:t>
            </a:r>
          </a:p>
          <a:p>
            <a:pPr/>
            <a:r>
              <a:rPr sz="2200"/>
              <a:t>Each subagent type = AgentDefinition: description, own system prompt, own tool restrictions</a:t>
            </a:r>
          </a:p>
          <a:p>
            <a:pPr/>
            <a:r>
              <a:rPr sz="2000"/>
              <a:t>E.g. search agent gets ONLY search tools — cannot touch files</a:t>
            </a:r>
          </a:p>
          <a:p>
            <a:pPr/>
            <a:r>
              <a:rPr sz="2400" b="1"/>
              <a:t>PARALLEL: boss emits multiple Task calls in ONE single response</a:t>
            </a:r>
          </a:p>
          <a:p>
            <a:pPr/>
            <a:r>
              <a:rPr sz="2000"/>
              <a:t>Sequential (task, wait, task, wait) = slower — exam prefers parallel</a:t>
            </a:r>
          </a:p>
          <a:p>
            <a:pPr/>
            <a:r>
              <a:rPr sz="2200"/>
              <a:t>Pass findings in structured form: content separate from metadata (source URL, doc name, page number)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Writing Task Prompts for Subagents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C00000"/>
                </a:solidFill>
              </a:rPr>
              <a:t>BAD: step-by-step procedure ('first search X, then read Y')</a:t>
            </a:r>
          </a:p>
          <a:p>
            <a:pPr/>
            <a:r>
              <a:rPr sz="2000"/>
              <a:t>Rigid, fragile, kills adaptability</a:t>
            </a:r>
          </a:p>
          <a:p>
            <a:pPr/>
            <a:r>
              <a:rPr sz="2400" b="1"/>
              <a:t>GOOD: research GOAL + quality criteria</a:t>
            </a:r>
          </a:p>
          <a:p>
            <a:pPr/>
            <a:r>
              <a:rPr sz="2200"/>
              <a:t>'Find EV sales data for India; include source + date; skip blogs; method up to you'</a:t>
            </a:r>
          </a:p>
          <a:p>
            <a:pPr/>
            <a:r>
              <a:rPr sz="2200"/>
              <a:t>Subagent figures out its own steps → adapts to what it finds</a:t>
            </a:r>
          </a:p>
          <a:p>
            <a:pPr/>
            <a:r>
              <a:rPr sz="2000"/>
              <a:t>Structured data passing preserves attribution downstream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Workflow Enforcement &amp;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Prompt instructions = PROBABILISTIC compliance (can fail)</a:t>
            </a:r>
          </a:p>
          <a:p>
            <a:pPr/>
            <a:r>
              <a:rPr sz="2400" b="1"/>
              <a:t>Programmatic enforcement (hooks, gates) = GUARANTEED compliance</a:t>
            </a:r>
          </a:p>
          <a:p>
            <a:pPr/>
            <a:r>
              <a:rPr sz="2200"/>
              <a:t>When business rules demand certainty (identity check before refund) → enforce programmatically</a:t>
            </a:r>
          </a:p>
          <a:p>
            <a:pPr/>
            <a:r>
              <a:rPr sz="2200"/>
              <a:t>Pattern: block process_refund until get_customer returned verified ID</a:t>
            </a:r>
          </a:p>
          <a:p>
            <a:pPr/>
            <a:r>
              <a:rPr sz="2200"/>
              <a:t>Multi-concern request → split into items → investigate in parallel → synthesize one resolution</a:t>
            </a:r>
          </a:p>
          <a:p>
            <a:pPr/>
            <a:r>
              <a:rPr sz="2200"/>
              <a:t>Escalation handoff = STRUCTURED SUMMARY: customer ID, root cause, refund amount, recommended action</a:t>
            </a:r>
          </a:p>
          <a:p>
            <a:pPr/>
            <a:r>
              <a:rPr sz="2000"/>
              <a:t>Human agent has no transcript access — summary must stand alone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1.5 Agent SDK Hooks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Hooks = code that intercepts the agent loop at fixed points</a:t>
            </a:r>
          </a:p>
          <a:p>
            <a:pPr/>
            <a:r>
              <a:rPr sz="2400" b="1"/>
              <a:t>PostToolUse hook: intercepts tool RESULTS before Claude sees them</a:t>
            </a:r>
          </a:p>
          <a:p>
            <a:pPr/>
            <a:r>
              <a:rPr sz="2200"/>
              <a:t>Use: normalize messy data (Unix vs ISO 8601 timestamps, status codes) from different MCP tools</a:t>
            </a:r>
          </a:p>
          <a:p>
            <a:pPr/>
            <a:r>
              <a:rPr sz="2400" b="1"/>
              <a:t>Tool-call interception hook: blocks policy violations BEFORE execution</a:t>
            </a:r>
          </a:p>
          <a:p>
            <a:pPr/>
            <a:r>
              <a:rPr sz="2200"/>
              <a:t>E.g. refund &gt; $500 → block → redirect to human escalation</a:t>
            </a:r>
          </a:p>
          <a:p>
            <a:pPr/>
            <a:r>
              <a:rPr sz="2400" b="1"/>
              <a:t>Rule: guaranteed compliance → hook. Flexible guidance → prompt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choosing prompt-based enforcement for hard business rules → WRONG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1.6 Task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Two patterns — pick by task type</a:t>
            </a:r>
          </a:p>
          <a:p>
            <a:pPr/>
            <a:r>
              <a:rPr sz="2400" b="1"/>
              <a:t>PROMPT CHAINING (fixed pipeline) (fixed sequential pipeline): predictable multi-aspect work</a:t>
            </a:r>
          </a:p>
          <a:p>
            <a:pPr/>
            <a:r>
              <a:rPr sz="2000"/>
              <a:t>E.g. big code review → analyze each file separately → then cross-file integration pass</a:t>
            </a:r>
          </a:p>
          <a:p>
            <a:pPr/>
            <a:r>
              <a:rPr sz="2400" b="1"/>
              <a:t>DYNAMIC adaptive decomposition: open-ended investigation</a:t>
            </a:r>
          </a:p>
          <a:p>
            <a:pPr/>
            <a:r>
              <a:rPr sz="2000"/>
              <a:t>Generate subtasks based on what each step DISCOVERS</a:t>
            </a:r>
          </a:p>
          <a:p>
            <a:pPr/>
            <a:r>
              <a:rPr sz="2000"/>
              <a:t>E.g. 'add tests to legacy codebase' → map structure → find high-impact areas → prioritized adaptive plan</a:t>
            </a:r>
          </a:p>
          <a:p>
            <a:pPr/>
            <a:r>
              <a:rPr sz="2200"/>
              <a:t>Why split: avoid ATTENTION DILUTION — one pass over everything = shallow findings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per-file + integration pass beats single mega-review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1.7 Session State: Resume &amp; Fork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--resume &lt;session-name&gt; → continue a named prior session</a:t>
            </a:r>
          </a:p>
          <a:p>
            <a:pPr/>
            <a:r>
              <a:rPr sz="2400" b="1"/>
              <a:t>fork_session → branch from shared baseline, explore divergent approaches</a:t>
            </a:r>
          </a:p>
          <a:p>
            <a:pPr/>
            <a:r>
              <a:rPr sz="2000"/>
              <a:t>E.g. compare two testing strategies from one codebase analysis</a:t>
            </a:r>
          </a:p>
          <a:p>
            <a:pPr/>
            <a:r>
              <a:rPr sz="2200"/>
              <a:t>After code changed: TELL the resumed session WHICH files changed → targeted re-analysis</a:t>
            </a:r>
          </a:p>
          <a:p>
            <a:pPr/>
            <a:r>
              <a:rPr sz="2400" b="1"/>
              <a:t>Stale tool results? → start NEW session with structured summary (more reliable than resume)</a:t>
            </a:r>
          </a:p>
          <a:p>
            <a:pPr/>
            <a:r>
              <a:rPr sz="2200"/>
              <a:t>Resume when prior context mostly still valid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resuming with stale tool outputs → wrong answers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2 — Tool Design &amp; MCP (18%)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Tool Descriptions = Selection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Claude picks tools BY DESCRIPTION. Bad description = wrong tool</a:t>
            </a:r>
          </a:p>
          <a:p>
            <a:pPr/>
            <a:r>
              <a:rPr sz="2200"/>
              <a:t>Include: purpose, input format, example queries, edge cases, boundaries, when NOT to use</a:t>
            </a:r>
          </a:p>
          <a:p>
            <a:pPr/>
            <a:r>
              <a:rPr sz="2200"/>
              <a:t>Similar tools with vague descriptions → MISROUTING</a:t>
            </a:r>
          </a:p>
          <a:p>
            <a:pPr/>
            <a:r>
              <a:rPr sz="2000"/>
              <a:t>Classic exam case: analyze_content vs analyze_document, near-identical descriptions</a:t>
            </a:r>
          </a:p>
          <a:p>
            <a:pPr/>
            <a:r>
              <a:rPr sz="2200"/>
              <a:t>Fixes: rename to purpose-specific (extract_web_results), sharpen descriptions</a:t>
            </a:r>
          </a:p>
          <a:p>
            <a:pPr/>
            <a:r>
              <a:rPr sz="2200"/>
              <a:t>Or SPLIT generic tool into specific ones:</a:t>
            </a:r>
          </a:p>
          <a:p>
            <a:pPr/>
            <a:r>
              <a:rPr sz="2000"/>
              <a:t>analyze_document → extract_data_points + summarize_content + verify_claim_against_source</a:t>
            </a:r>
          </a:p>
          <a:p>
            <a:pPr/>
            <a:r>
              <a:rPr sz="2000"/>
              <a:t>System prompt keywords can create unintended tool associations — review prompts too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Structured Error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MCP isError flag = the pattern for reporting tool failure back to agent</a:t>
            </a:r>
          </a:p>
          <a:p>
            <a:pPr/>
            <a:r>
              <a:rPr sz="2400" b="1"/>
              <a:t>Error categories — know all four:</a:t>
            </a:r>
          </a:p>
          <a:p>
            <a:pPr/>
            <a:r>
              <a:rPr sz="2000"/>
              <a:t>TRANSIENT (timeout, service down) · VALIDATION (bad input) · BUSINESS (policy violation) · PERMISSION (no access)</a:t>
            </a:r>
          </a:p>
          <a:p>
            <a:pPr/>
            <a:r>
              <a:rPr sz="2200"/>
              <a:t>Return: errorCategory + isRetryable (boolean) + human-readable description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uniform errors ('Operation failed') → agent cannot decide how to recover</a:t>
            </a:r>
          </a:p>
          <a:p>
            <a:pPr/>
            <a:r>
              <a:rPr sz="2200"/>
              <a:t>Retryable=false + friendly explanation for business rule violations</a:t>
            </a:r>
          </a:p>
          <a:p>
            <a:pPr/>
            <a:r>
              <a:rPr sz="2200"/>
              <a:t>Distinguish: access FAILURE (retry decision needed) vs valid EMPTY result (query worked, no matches)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Local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Subagents handle transient failures THEMSELVES (retry locally)</a:t>
            </a:r>
          </a:p>
          <a:p>
            <a:pPr/>
            <a:r>
              <a:rPr sz="2200"/>
              <a:t>Escalate to coordinator ONLY unresolvable errors — with partial results + what was attempted</a:t>
            </a:r>
          </a:p>
          <a:p>
            <a:pPr/>
            <a:r>
              <a:rPr sz="2000"/>
              <a:t>Structured error context = smart coordinator recovery decisions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silent suppression (empty result looks like success) → WRONG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whole pipeline dies on single subagent failure → WRONG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wasting retries on non-retryable errors → check isRetryable first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Tool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FEWER tools = better selection. 4-5 &gt; 18</a:t>
            </a:r>
          </a:p>
          <a:p>
            <a:pPr/>
            <a:r>
              <a:rPr sz="2200"/>
              <a:t>Too many tools → decision complexity → wrong picks</a:t>
            </a:r>
          </a:p>
          <a:p>
            <a:pPr/>
            <a:r>
              <a:rPr sz="2400" b="1"/>
              <a:t>Give each agent ONLY tools for its role</a:t>
            </a:r>
          </a:p>
          <a:p>
            <a:pPr/>
            <a:r>
              <a:rPr sz="2200"/>
              <a:t>Specialist with out-of-role tools WILL misuse them (synthesis agent doing web searches)</a:t>
            </a:r>
          </a:p>
          <a:p>
            <a:pPr/>
            <a:r>
              <a:rPr sz="2000"/>
              <a:t>Replace generic with constrained: fetch_url → load_document (validates doc URLs)</a:t>
            </a:r>
          </a:p>
          <a:p>
            <a:pPr/>
            <a:r>
              <a:rPr sz="2200"/>
              <a:t>High-frequency cross-role need → scoped tool (verify_fact for synthesis agent); complex cases → route via coordinator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tool_choice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"auto" — model decides: tool call OR plain text</a:t>
            </a:r>
          </a:p>
          <a:p>
            <a:pPr/>
            <a:r>
              <a:rPr sz="2400" b="1"/>
              <a:t>"any" — MUST call some tool (model picks which). Blocks chatty answers</a:t>
            </a:r>
          </a:p>
          <a:p>
            <a:pPr/>
            <a:r>
              <a:rPr sz="2000"/>
              <a:t>Use: guarantee structured output when doc type unknown, multiple schemas exist</a:t>
            </a:r>
          </a:p>
          <a:p>
            <a:pPr/>
            <a:r>
              <a:rPr sz="2400" b="1"/>
              <a:t>{"type": "tool", "name": "extract_metadata"} — FORCED specific tool</a:t>
            </a:r>
          </a:p>
          <a:p>
            <a:pPr/>
            <a:r>
              <a:rPr sz="2000"/>
              <a:t>Use: ensure extraction runs FIRST before enrichment steps</a:t>
            </a:r>
          </a:p>
          <a:p>
            <a:pPr/>
            <a:r>
              <a:rPr sz="2200"/>
              <a:t>Exam pattern: force tool first turn → process next steps in follow-up turns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MCP Server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Project scope: .mcp.json in repo → SHARED with team via version control</a:t>
            </a:r>
          </a:p>
          <a:p>
            <a:pPr/>
            <a:r>
              <a:rPr sz="2400" b="1"/>
              <a:t>User scope: ~/.claude.json → personal/experimental servers</a:t>
            </a:r>
          </a:p>
          <a:p>
            <a:pPr/>
            <a:r>
              <a:rPr sz="2000"/>
              <a:t>Both live simultaneously</a:t>
            </a:r>
          </a:p>
          <a:p>
            <a:pPr/>
            <a:r>
              <a:rPr sz="2400" b="1"/>
              <a:t>Secrets: environment variable expansion in .mcp.json — ${GITHUB_TOKEN} — never commit tokens</a:t>
            </a:r>
          </a:p>
          <a:p>
            <a:pPr/>
            <a:r>
              <a:rPr sz="2200"/>
              <a:t>Tools from ALL configured servers discovered at connection time, available together</a:t>
            </a:r>
          </a:p>
          <a:p>
            <a:pPr/>
            <a:r>
              <a:rPr sz="2200"/>
              <a:t>Prefer EXISTING community MCP servers (e.g. Jira) over custom — build custom only for team-specific workflows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MCP Details That Get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Weak MCP tool descriptions → Claude prefers BUILT-IN tools (Grep) over better MCP tools</a:t>
            </a:r>
          </a:p>
          <a:p>
            <a:pPr/>
            <a:r>
              <a:rPr sz="2200"/>
              <a:t>Fix: enhance MCP tool descriptions — capabilities + outputs in detail</a:t>
            </a:r>
          </a:p>
          <a:p>
            <a:pPr/>
            <a:r>
              <a:rPr sz="2400" b="1"/>
              <a:t>MCP RESOURCES = content catalogs (issue summaries, doc trees, DB schemas)</a:t>
            </a:r>
          </a:p>
          <a:p>
            <a:pPr/>
            <a:r>
              <a:rPr sz="2200"/>
              <a:t>Give visibility into available data WITHOUT exploratory tool calls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new teammate missing shared servers → servers were in someone's user config, not project .mcp.json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 Built-in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Grep = search CONTENT (function names, error strings, imports, callers)</a:t>
            </a:r>
          </a:p>
          <a:p>
            <a:pPr/>
            <a:r>
              <a:rPr sz="2400" b="1"/>
              <a:t>Glob = search FILE NAMES / paths (*.test.tsx, *.py)</a:t>
            </a:r>
          </a:p>
          <a:p>
            <a:pPr/>
            <a:r>
              <a:rPr sz="2200"/>
              <a:t>Read / Write = full file operations</a:t>
            </a:r>
          </a:p>
          <a:p>
            <a:pPr/>
            <a:r>
              <a:rPr sz="2200"/>
              <a:t>Edit = targeted change via UNIQUE text match</a:t>
            </a:r>
          </a:p>
          <a:p>
            <a:pPr/>
            <a:r>
              <a:rPr sz="2400" b="1"/>
              <a:t>Edit fails on non-unique anchor text → fallback: Read then Write full file</a:t>
            </a:r>
          </a:p>
          <a:p>
            <a:pPr/>
            <a:r>
              <a:rPr sz="2200"/>
              <a:t>Explore incrementally: Grep entry points → Read imports → trace flow. NOT read-all-first</a:t>
            </a:r>
          </a:p>
          <a:p>
            <a:pPr/>
            <a:r>
              <a:rPr sz="2000"/>
              <a:t>Trace usage: find exported names → Grep each name across codebase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3 — Claude Code Config (20%)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CLAUDE.md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User level: ~/.claude/CLAUDE.md → personal ONLY, never shared</a:t>
            </a:r>
          </a:p>
          <a:p>
            <a:pPr/>
            <a:r>
              <a:rPr sz="2400" b="1"/>
              <a:t>Project level: CLAUDE.md in root (or .claude/CLAUDE.md) → shared via git</a:t>
            </a:r>
          </a:p>
          <a:p>
            <a:pPr/>
            <a:r>
              <a:rPr sz="2200"/>
              <a:t>Directory level: subdirectory CLAUDE.md → applies in that subtree</a:t>
            </a:r>
          </a:p>
          <a:p>
            <a:pPr/>
            <a:r>
              <a:rPr sz="2400" b="1"/>
              <a:t>Classic exam scenario: new teammate NOT getting instructions → they were in USER level instead of PROJECT level</a:t>
            </a:r>
          </a:p>
          <a:p>
            <a:pPr/>
            <a:r>
              <a:rPr sz="2200"/>
              <a:t>@import syntax → reference external files, keep CLAUDE.md modular</a:t>
            </a:r>
          </a:p>
          <a:p>
            <a:pPr/>
            <a:r>
              <a:rPr sz="2000"/>
              <a:t>E.g. each package imports only its relevant standards file</a:t>
            </a:r>
          </a:p>
          <a:p>
            <a:pPr/>
            <a:r>
              <a:rPr sz="2200"/>
              <a:t>/memory command → verify which memory files are loaded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.claude/rules/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Alternative to one monolithic CLAUDE.md</a:t>
            </a:r>
          </a:p>
          <a:p>
            <a:pPr/>
            <a:r>
              <a:rPr sz="2400" b="1"/>
              <a:t>Split into topic files: testing.md, api-conventions.md, deployment.md</a:t>
            </a:r>
          </a:p>
          <a:p>
            <a:pPr/>
            <a:r>
              <a:rPr sz="2000"/>
              <a:t>Rules files support YAML frontmatter — see 3.3 for path scoping</a:t>
            </a:r>
          </a:p>
          <a:p>
            <a:pPr/>
            <a:r>
              <a:rPr sz="2200"/>
              <a:t>Always-loaded universal standards → CLAUDE.md</a:t>
            </a:r>
          </a:p>
          <a:p>
            <a:pPr/>
            <a:r>
              <a:rPr sz="2200"/>
              <a:t>On-demand, conditional, topic-scoped → rules files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Slash Commands &amp;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Commands: .claude/commands/ = project, shared via git</a:t>
            </a:r>
          </a:p>
          <a:p>
            <a:pPr/>
            <a:r>
              <a:rPr sz="2200"/>
              <a:t>~/.claude/commands/ = personal</a:t>
            </a:r>
          </a:p>
          <a:p>
            <a:pPr/>
            <a:r>
              <a:rPr sz="2200"/>
              <a:t>Skills: .claude/skills/SKILL.md files</a:t>
            </a:r>
          </a:p>
          <a:p>
            <a:pPr/>
            <a:r>
              <a:rPr sz="2400" b="1"/>
              <a:t>Frontmatter options: context: fork · allowed-tools · argument-hint</a:t>
            </a:r>
          </a:p>
          <a:p>
            <a:pPr/>
            <a:r>
              <a:rPr sz="2400" b="1"/>
              <a:t>context: fork → runs in ISOLATED sub-agent context</a:t>
            </a:r>
          </a:p>
          <a:p>
            <a:pPr/>
            <a:r>
              <a:rPr sz="2200"/>
              <a:t>Verbose output (codebase analysis) or exploration (brainstorm) stays OUT of main conversation</a:t>
            </a:r>
          </a:p>
          <a:p>
            <a:pPr/>
            <a:r>
              <a:rPr sz="2200"/>
              <a:t>allowed-tools → restrict tools during skill (e.g. file writes only)</a:t>
            </a:r>
          </a:p>
          <a:p>
            <a:pPr/>
            <a:r>
              <a:rPr sz="2000"/>
              <a:t>argument-hint → prompts for parameters when invoked without args</a:t>
            </a:r>
          </a:p>
          <a:p>
            <a:pPr/>
            <a:r>
              <a:rPr sz="2000"/>
              <a:t>Personal variant → ~/.claude/skills/ with DIFFERENT name (don't affect teammates)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Path-Specific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.claude/rules/ file + YAML frontmatter paths field with GLOB patterns</a:t>
            </a:r>
          </a:p>
          <a:p>
            <a:pPr/>
            <a:r>
              <a:rPr sz="2400" b="1"/>
              <a:t>paths: ["src/api/**/*"] → loads only when editing matching files</a:t>
            </a:r>
          </a:p>
          <a:p>
            <a:pPr/>
            <a:r>
              <a:rPr sz="2200"/>
              <a:t>paths: ["**/*.test.tsx"] → all test files ANYWHERE in repo</a:t>
            </a:r>
          </a:p>
          <a:p>
            <a:pPr/>
            <a:r>
              <a:rPr sz="2200"/>
              <a:t>Benefits: less irrelevant context, fewer tokens</a:t>
            </a:r>
          </a:p>
          <a:p>
            <a:pPr/>
            <a:r>
              <a:rPr sz="2400" b="1"/>
              <a:t>Rules beat subdirectory CLAUDE.md when convention spans MANY directories</a:t>
            </a:r>
          </a:p>
          <a:p>
            <a:pPr/>
            <a:r>
              <a:rPr sz="2000"/>
              <a:t>E.g. test files scattered repo-wide — one glob rule covers all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Plan Mode vs Direct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PLAN MODE: complex, multi-file, architectural decisions, several valid approaches</a:t>
            </a:r>
          </a:p>
          <a:p>
            <a:pPr/>
            <a:r>
              <a:rPr sz="2000"/>
              <a:t>E.g. library migration touching 45+ files, microservice restructuring, integration choice</a:t>
            </a:r>
          </a:p>
          <a:p>
            <a:pPr/>
            <a:r>
              <a:rPr sz="2200"/>
              <a:t>Explore + design BEFORE changing → prevents costly rework</a:t>
            </a:r>
          </a:p>
          <a:p>
            <a:pPr/>
            <a:r>
              <a:rPr sz="2400" b="1"/>
              <a:t>DIRECT: simple, well-scoped, one clear fix</a:t>
            </a:r>
          </a:p>
          <a:p>
            <a:pPr/>
            <a:r>
              <a:rPr sz="2000"/>
              <a:t>E.g. single-file bug fix with clear stack trace, add one validation check</a:t>
            </a:r>
          </a:p>
          <a:p>
            <a:pPr/>
            <a:r>
              <a:rPr sz="2200"/>
              <a:t>Explore SUBAGENT: isolates verbose discovery, returns summary → protects main context</a:t>
            </a:r>
          </a:p>
          <a:p>
            <a:pPr/>
            <a:r>
              <a:rPr sz="2200"/>
              <a:t>Common combo: plan mode for investigation → direct execution to implement</a:t>
            </a:r>
          </a:p>
          <a:p>
            <a:pPr/>
            <a:r>
              <a:rPr sz="2200">
                <a:solidFill>
                  <a:srgbClr val="C00000"/>
                </a:solidFill>
              </a:rPr>
              <a:t>TRAP: plan mode for trivial fix = waste; direct for big refactor = risky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3.5 Iterative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Concrete INPUT/OUTPUT examples beat prose — prose gets interpreted inconsistently</a:t>
            </a:r>
          </a:p>
          <a:p>
            <a:pPr/>
            <a:r>
              <a:rPr sz="2200"/>
              <a:t>Give 2-3 examples when words alone fail</a:t>
            </a:r>
          </a:p>
          <a:p>
            <a:pPr/>
            <a:r>
              <a:rPr sz="2400" b="1"/>
              <a:t>Test-driven: write tests FIRST → iterate by sharing test failures</a:t>
            </a:r>
          </a:p>
          <a:p>
            <a:pPr/>
            <a:r>
              <a:rPr sz="2400" b="1"/>
              <a:t>Interview pattern: Claude asks YOU questions first → surfaces considerations you missed</a:t>
            </a:r>
          </a:p>
          <a:p>
            <a:pPr/>
            <a:r>
              <a:rPr sz="2000"/>
              <a:t>Use in unfamiliar domains (cache invalidation strategy, failure modes)</a:t>
            </a:r>
          </a:p>
          <a:p>
            <a:pPr/>
            <a:r>
              <a:rPr sz="2400" b="1"/>
              <a:t>INTERACTING problems → all issues in ONE message</a:t>
            </a:r>
          </a:p>
          <a:p>
            <a:pPr/>
            <a:r>
              <a:rPr sz="2400" b="1"/>
              <a:t>INDEPENDENT problems → fix sequentially</a:t>
            </a:r>
          </a:p>
          <a:p>
            <a:pPr/>
            <a:r>
              <a:rPr sz="2000"/>
              <a:t>Edge case fix: give specific test case (input + expected output), e.g. null handling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3.6 CI/CD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-p (--print) flag = non-interactive mode → no hangs in pipelines</a:t>
            </a:r>
          </a:p>
          <a:p>
            <a:pPr/>
            <a:r>
              <a:rPr sz="2400" b="1"/>
              <a:t>--output-format json + --json-schema → machine-parseable results</a:t>
            </a:r>
          </a:p>
          <a:p>
            <a:pPr/>
            <a:r>
              <a:rPr sz="2000"/>
              <a:t>Use: structured findings → auto-post as inline PR comments</a:t>
            </a:r>
          </a:p>
          <a:p>
            <a:pPr/>
            <a:r>
              <a:rPr sz="2200"/>
              <a:t>CLAUDE.md supplies CI context: testing standards, fixtures, review criteria</a:t>
            </a:r>
          </a:p>
          <a:p>
            <a:pPr/>
            <a:r>
              <a:rPr sz="2400" b="1"/>
              <a:t>FRESH session reviews code — not the session that WROTE it</a:t>
            </a:r>
          </a:p>
          <a:p>
            <a:pPr/>
            <a:r>
              <a:rPr sz="2000"/>
              <a:t>Self-review is weaker (biased by own reasoning context)</a:t>
            </a:r>
          </a:p>
          <a:p>
            <a:pPr/>
            <a:r>
              <a:rPr sz="2200"/>
              <a:t>Re-review after new commit: include prior findings → report only NEW/unaddressed issues</a:t>
            </a:r>
          </a:p>
          <a:p>
            <a:pPr/>
            <a:r>
              <a:rPr sz="2000"/>
              <a:t>Test generation: provide existing test files → no duplicate scenarios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4 — Prompt Eng &amp; Structured Output (20%)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Explicit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C00000"/>
                </a:solidFill>
              </a:rPr>
              <a:t>Vague: 'check comments are accurate' · 'be conservative' · 'high-confidence only' → FAIL</a:t>
            </a:r>
          </a:p>
          <a:p>
            <a:pPr/>
            <a:r>
              <a:rPr sz="2400" b="1"/>
              <a:t>Specific: 'flag comment ONLY when claimed behavior contradicts actual code behavior'</a:t>
            </a:r>
          </a:p>
          <a:p>
            <a:pPr/>
            <a:r>
              <a:rPr sz="2200"/>
              <a:t>Define WHAT to report (bugs, security) and what to SKIP (minor style)</a:t>
            </a:r>
          </a:p>
          <a:p>
            <a:pPr/>
            <a:r>
              <a:rPr sz="2400" b="1"/>
              <a:t>'Be conservative' improves NOTHING — only categorical criteria do</a:t>
            </a:r>
          </a:p>
          <a:p>
            <a:pPr/>
            <a:r>
              <a:rPr sz="2200"/>
              <a:t>False positives destroy developer trust — even in accurate categories</a:t>
            </a:r>
          </a:p>
          <a:p>
            <a:pPr/>
            <a:r>
              <a:rPr sz="2200"/>
              <a:t>Damaged trust fix: temporarily DISABLE high-false-positive category while improving it</a:t>
            </a:r>
          </a:p>
          <a:p>
            <a:pPr/>
            <a:r>
              <a:rPr sz="2000"/>
              <a:t>Severity levels: concrete code examples per level → consistent classification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Few-Shot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MOST effective technique for consistent, correctly formatted output</a:t>
            </a:r>
          </a:p>
          <a:p>
            <a:pPr/>
            <a:r>
              <a:rPr sz="2200"/>
              <a:t>When instructions alone produce inconsistent results → add examples</a:t>
            </a:r>
          </a:p>
          <a:p>
            <a:pPr/>
            <a:r>
              <a:rPr sz="2400" b="1"/>
              <a:t>2-4 targeted examples for AMBIGUOUS cases</a:t>
            </a:r>
          </a:p>
          <a:p>
            <a:pPr/>
            <a:r>
              <a:rPr sz="2200"/>
              <a:t>Show WHY one action chosen over alternative — models judgment, not answers</a:t>
            </a:r>
          </a:p>
          <a:p>
            <a:pPr/>
            <a:r>
              <a:rPr sz="2200"/>
              <a:t>Examples teach FORMAT (location, issue, severity, fix) → consistency</a:t>
            </a:r>
          </a:p>
          <a:p>
            <a:pPr/>
            <a:r>
              <a:rPr sz="2200"/>
              <a:t>Examples = acceptable patterns vs genuine issues → fewer false positives</a:t>
            </a:r>
          </a:p>
          <a:p>
            <a:pPr/>
            <a:r>
              <a:rPr sz="2000"/>
              <a:t>Reduces hallucination in extraction (informal measurements, varied doc structures)</a:t>
            </a:r>
          </a:p>
          <a:p>
            <a:pPr/>
            <a:r>
              <a:rPr sz="2000"/>
              <a:t>Generalizes to NOVEL cases — not just the shown ones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Structured Output via Tool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tool_use + JSON schema = MOST RELIABLE structured output</a:t>
            </a:r>
          </a:p>
          <a:p>
            <a:pPr/>
            <a:r>
              <a:rPr sz="2400" b="1"/>
              <a:t>Eliminates JSON SYNTAX errors entirely</a:t>
            </a:r>
          </a:p>
          <a:p>
            <a:pPr/>
            <a:r>
              <a:rPr sz="2400" b="1"/>
              <a:t>Does NOT prevent SEMANTIC errors (line items not summing to total, values in wrong fields)</a:t>
            </a:r>
          </a:p>
          <a:p>
            <a:pPr/>
            <a:r>
              <a:rPr sz="2200"/>
              <a:t>tool_choice recap: auto = maybe text · any = must call some tool · forced = must call named tool</a:t>
            </a:r>
          </a:p>
          <a:p>
            <a:pPr/>
            <a:r>
              <a:rPr sz="2000"/>
              <a:t>Unknown doc type, multiple schemas → tool_choice: any</a:t>
            </a:r>
          </a:p>
          <a:p>
            <a:pPr/>
            <a:r>
              <a:rPr sz="2000"/>
              <a:t>Extraction before enrichment → forced {"type":"tool","name":"extract_metadata"}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Field may not exist in source → make it OPTIONAL/NULLABLE</a:t>
            </a:r>
          </a:p>
          <a:p>
            <a:pPr/>
            <a:r>
              <a:rPr sz="2400" b="1"/>
              <a:t>Required fields force model to FABRICATE values — avoid</a:t>
            </a:r>
          </a:p>
          <a:p>
            <a:pPr/>
            <a:r>
              <a:rPr sz="2200"/>
              <a:t>Enums: add "other" + detail string field → extensible categories</a:t>
            </a:r>
          </a:p>
          <a:p>
            <a:pPr/>
            <a:r>
              <a:rPr sz="2200"/>
              <a:t>Add "unclear" enum value for ambiguous cases</a:t>
            </a:r>
          </a:p>
          <a:p>
            <a:pPr/>
            <a:r>
              <a:rPr sz="2000"/>
              <a:t>Pair prompts with schemas: format normalization rules handle messy source formatting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Validation, Retry, Feedback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Retry WITH error feedback: append SPECIFIC validation errors to prompt on retry</a:t>
            </a:r>
          </a:p>
          <a:p>
            <a:pPr/>
            <a:r>
              <a:rPr sz="2200"/>
              <a:t>Retry request includes: original doc + failed extraction + specific errors</a:t>
            </a:r>
          </a:p>
          <a:p>
            <a:pPr/>
            <a:r>
              <a:rPr sz="2400" b="1"/>
              <a:t>Retries WORK for: format mismatches, structural errors</a:t>
            </a:r>
          </a:p>
          <a:p>
            <a:pPr/>
            <a:r>
              <a:rPr sz="2400" b="1"/>
              <a:t>Retries FAIL when info ABSENT from source → distinguish these cases</a:t>
            </a:r>
          </a:p>
          <a:p>
            <a:pPr/>
            <a:r>
              <a:rPr sz="2200"/>
              <a:t>detected_pattern field on findings → analyze false-positive patterns when devs dismiss them</a:t>
            </a:r>
          </a:p>
          <a:p>
            <a:pPr/>
            <a:r>
              <a:rPr sz="2200"/>
              <a:t>Self-correction design: extract calculated_total AND stated_total → conflict_detected boolean</a:t>
            </a:r>
          </a:p>
          <a:p>
            <a:pPr/>
            <a:r>
              <a:rPr sz="2000"/>
              <a:t>Semantic validation ≠ syntax validation (syntax already solved by tool use)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4.5 Message Batches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50% cost savings · up to 24-hour window · NO latency guarantee</a:t>
            </a:r>
          </a:p>
          <a:p>
            <a:pPr/>
            <a:r>
              <a:rPr sz="2400" b="1"/>
              <a:t>GOOD for: overnight reports, weekly audits, nightly test generation (latency-tolerant)</a:t>
            </a:r>
          </a:p>
          <a:p>
            <a:pPr/>
            <a:r>
              <a:rPr sz="2400" b="1"/>
              <a:t>BAD for: blocking workflows, pre-merge checks → use synchronous API</a:t>
            </a:r>
          </a:p>
          <a:p>
            <a:pPr/>
            <a:r>
              <a:rPr sz="2400" b="1"/>
              <a:t>NO multi-turn tool calling inside a batch request</a:t>
            </a:r>
          </a:p>
          <a:p>
            <a:pPr/>
            <a:r>
              <a:rPr sz="2200"/>
              <a:t>custom_id field → correlate request/response pairs</a:t>
            </a:r>
          </a:p>
          <a:p>
            <a:pPr/>
            <a:r>
              <a:rPr sz="2200"/>
              <a:t>Failures: resubmit ONLY failed docs (by custom_id), with fixes (chunk oversized docs)</a:t>
            </a:r>
          </a:p>
          <a:p>
            <a:pPr/>
            <a:r>
              <a:rPr sz="2200"/>
              <a:t>SLA math: 30-hour SLA + 24h batch window → submit every 4 hours</a:t>
            </a:r>
          </a:p>
          <a:p>
            <a:pPr/>
            <a:r>
              <a:rPr sz="2000"/>
              <a:t>Refine prompt on SAMPLE set first → max first-pass success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4.6 Multi-Instance &amp; Multi-Pass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Self-review is WEAK — model trusts its own prior reasoning in same session</a:t>
            </a:r>
          </a:p>
          <a:p>
            <a:pPr/>
            <a:r>
              <a:rPr sz="2400" b="1"/>
              <a:t>Independent FRESH instance (no generator context) catches subtle issues better</a:t>
            </a:r>
          </a:p>
          <a:p>
            <a:pPr/>
            <a:r>
              <a:rPr sz="2000"/>
              <a:t>Beats even extended thinking + self-review instructions</a:t>
            </a:r>
          </a:p>
          <a:p>
            <a:pPr/>
            <a:r>
              <a:rPr sz="2400" b="1"/>
              <a:t>Large review = multi-pass: per-file LOCAL passes + separate cross-file INTEGRATION pass</a:t>
            </a:r>
          </a:p>
          <a:p>
            <a:pPr/>
            <a:r>
              <a:rPr sz="2000"/>
              <a:t>Why: attention dilution + contradictory findings in single mega-pass</a:t>
            </a:r>
          </a:p>
          <a:p>
            <a:pPr/>
            <a:r>
              <a:rPr sz="2200"/>
              <a:t>Verification pass: model reports CONFIDENCE per finding → calibrated routing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5 — Context &amp; Reliability (15%)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Context Window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LOST IN THE MIDDLE: models use beginning + end of long input, DROP the middle</a:t>
            </a:r>
          </a:p>
          <a:p>
            <a:pPr/>
            <a:r>
              <a:rPr sz="2200"/>
              <a:t>Fix: key findings summary at TOP, explicit section headers</a:t>
            </a:r>
          </a:p>
          <a:p>
            <a:pPr/>
            <a:r>
              <a:rPr sz="2400" b="1"/>
              <a:t>Progressive summarization DANGER: numbers, dates, percentages, customer expectations become vague</a:t>
            </a:r>
          </a:p>
          <a:p>
            <a:pPr/>
            <a:r>
              <a:rPr sz="2200"/>
              <a:t>Tool results ACCUMULATE and eat tokens (40 fields returned, 5 relevant)</a:t>
            </a:r>
          </a:p>
          <a:p>
            <a:pPr/>
            <a:r>
              <a:rPr sz="2400" b="1"/>
              <a:t>Fix: trim tool output to relevant fields BEFORE it enters context</a:t>
            </a:r>
          </a:p>
          <a:p>
            <a:pPr/>
            <a:r>
              <a:rPr sz="2200"/>
              <a:t>Persistent 'case facts' block (amounts, dates, order IDs, statuses) in every prompt — OUTSIDE the summary</a:t>
            </a:r>
          </a:p>
          <a:p>
            <a:pPr/>
            <a:r>
              <a:rPr sz="2000"/>
              <a:t>ALWAYS pass complete conversation history per API request</a:t>
            </a:r>
          </a:p>
          <a:p>
            <a:pPr/>
            <a:r>
              <a:rPr sz="2200"/>
              <a:t>Downstream agent tight on context? Upstream returns structured data (key facts, citations, relevance scores) not verbose reasoning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Escalation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Escalate when: customer ASKS for human · policy gap/ambiguity · no meaningful progress</a:t>
            </a:r>
          </a:p>
          <a:p>
            <a:pPr/>
            <a:r>
              <a:rPr sz="2400" b="1"/>
              <a:t>Explicit human request → escalate IMMEDIATELY, no investigation first</a:t>
            </a:r>
          </a:p>
          <a:p>
            <a:pPr/>
            <a:r>
              <a:rPr sz="2200"/>
              <a:t>Frustrated but solvable → acknowledge + offer fix; escalate only if they insist</a:t>
            </a:r>
          </a:p>
          <a:p>
            <a:pPr/>
            <a:r>
              <a:rPr sz="2200"/>
              <a:t>Policy silent on the specific ask (competitor price match?) → escalate</a:t>
            </a:r>
          </a:p>
          <a:p>
            <a:pPr/>
            <a:r>
              <a:rPr sz="2400" b="1"/>
              <a:t>Sentiment and self-reported confidence = UNRELIABLE complexity proxies</a:t>
            </a:r>
          </a:p>
          <a:p>
            <a:pPr/>
            <a:r>
              <a:rPr sz="2400" b="1"/>
              <a:t>Tool returns MULTIPLE customer matches → ask for more identifiers, NEVER heuristic pick</a:t>
            </a:r>
          </a:p>
          <a:p>
            <a:pPr/>
            <a:r>
              <a:rPr sz="2000"/>
              <a:t>Teach escalation judgment via few-shot examples in system prompt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 Error Propagation in Multi-Agent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Error report to coordinator must include: failure type + attempted query + partial results + alternatives</a:t>
            </a:r>
          </a:p>
          <a:p>
            <a:pPr/>
            <a:r>
              <a:rPr sz="2200">
                <a:solidFill>
                  <a:srgbClr val="C00000"/>
                </a:solidFill>
              </a:rPr>
              <a:t>Generic status ('search unavailable') hides recovery options</a:t>
            </a:r>
          </a:p>
          <a:p>
            <a:pPr/>
            <a:r>
              <a:rPr sz="2400" b="1"/>
              <a:t>Access failure ≠ valid empty result — label which one it was</a:t>
            </a:r>
          </a:p>
          <a:p>
            <a:pPr/>
            <a:r>
              <a:rPr sz="2200">
                <a:solidFill>
                  <a:srgbClr val="C00000"/>
                </a:solidFill>
              </a:rPr>
              <a:t>Silent suppression (error dressed as empty success) = anti-pattern</a:t>
            </a:r>
          </a:p>
          <a:p>
            <a:pPr/>
            <a:r>
              <a:rPr sz="2200">
                <a:solidFill>
                  <a:srgbClr val="C00000"/>
                </a:solidFill>
              </a:rPr>
              <a:t>Whole workflow dies on one failure = anti-pattern</a:t>
            </a:r>
          </a:p>
          <a:p>
            <a:pPr/>
            <a:r>
              <a:rPr sz="2200"/>
              <a:t>Synthesis output carries COVERAGE annotations: well-supported findings vs gap areas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5.4 Large Codebase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Context DEGRADATION in long sessions: inconsistent answers, 'typical patterns' instead of specifics found earlier</a:t>
            </a:r>
          </a:p>
          <a:p>
            <a:pPr/>
            <a:r>
              <a:rPr sz="2400" b="1"/>
              <a:t>SCRATCHPAD FILES: persist key findings to disk, reference later — survives context loss</a:t>
            </a:r>
          </a:p>
          <a:p>
            <a:pPr/>
            <a:r>
              <a:rPr sz="2200"/>
              <a:t>Subagent delegation: verbose exploration isolated in subagents; main agent keeps high-level view</a:t>
            </a:r>
          </a:p>
          <a:p>
            <a:pPr/>
            <a:r>
              <a:rPr sz="2200"/>
              <a:t>Phase summary → injected into next phase's subagents</a:t>
            </a:r>
          </a:p>
          <a:p>
            <a:pPr/>
            <a:r>
              <a:rPr sz="2400" b="1"/>
              <a:t>Crash recovery: each agent exports state to known location; coordinator loads MANIFEST on resume</a:t>
            </a:r>
          </a:p>
          <a:p>
            <a:pPr/>
            <a:r>
              <a:rPr sz="2200"/>
              <a:t>/compact command → shrink context mid-session when full of discovery output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5.5 Human Review &amp; Confidence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97% OVERALL accuracy can hide 60% accuracy on ONE document type</a:t>
            </a:r>
          </a:p>
          <a:p>
            <a:pPr/>
            <a:r>
              <a:rPr sz="2400" b="1"/>
              <a:t>Always break accuracy down BY document type and BY field</a:t>
            </a:r>
          </a:p>
          <a:p>
            <a:pPr/>
            <a:r>
              <a:rPr sz="2400" b="1"/>
              <a:t>Stratified random sampling of high-confidence extractions → measure real error rate + catch novel patterns</a:t>
            </a:r>
          </a:p>
          <a:p>
            <a:pPr/>
            <a:r>
              <a:rPr sz="2200"/>
              <a:t>Field-level confidence scores → calibrate thresholds on LABELED validation set</a:t>
            </a:r>
          </a:p>
          <a:p>
            <a:pPr/>
            <a:r>
              <a:rPr sz="2200"/>
              <a:t>Route to human: low confidence + ambiguous/contradictory sources; prioritize reviewer capacity</a:t>
            </a:r>
          </a:p>
          <a:p>
            <a:pPr/>
            <a:r>
              <a:rPr sz="2200"/>
              <a:t>Validate segments BEFORE reducing human review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5.6 Provenance &amp; Multi-Source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Summarization STEPS strip source attribution — findings arrive 'naked'</a:t>
            </a:r>
          </a:p>
          <a:p>
            <a:pPr/>
            <a:r>
              <a:rPr sz="2400" b="1"/>
              <a:t>Subagents must output claim-SOURCE mappings (URL, doc name, excerpt) — synthesis preserves + merges them</a:t>
            </a:r>
          </a:p>
          <a:p>
            <a:pPr/>
            <a:r>
              <a:rPr sz="2400" b="1"/>
              <a:t>Conflicting credible stats → ANNOTATE conflict with sources; never silently pick one</a:t>
            </a:r>
          </a:p>
          <a:p>
            <a:pPr/>
            <a:r>
              <a:rPr sz="2200"/>
              <a:t>Temporal data: require publication/collection dates → date difference ≠ contradiction</a:t>
            </a:r>
          </a:p>
          <a:p>
            <a:pPr/>
            <a:r>
              <a:rPr sz="2200"/>
              <a:t>Report structure: well-established findings section SEPARATE from contested ones</a:t>
            </a:r>
          </a:p>
          <a:p>
            <a:pPr/>
            <a:r>
              <a:rPr sz="2200"/>
              <a:t>Render by type: financial = tables, news = prose, technical = structured lists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— Memory Sheet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 To Memorize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60 questions · 120 minutes · pass 720/1000 · $125 · valid 12 months</a:t>
            </a:r>
          </a:p>
          <a:p>
            <a:pPr/>
            <a:r>
              <a:rPr sz="2400" b="1"/>
              <a:t>Domain weights: 27 · 18 · 20 · 20 · 15</a:t>
            </a:r>
          </a:p>
          <a:p>
            <a:pPr/>
            <a:r>
              <a:rPr sz="2400" b="1"/>
              <a:t>Batches API: 50% cheaper · 24h window · no SLA · no mid-batch tools</a:t>
            </a:r>
          </a:p>
          <a:p>
            <a:pPr/>
            <a:r>
              <a:rPr sz="2400" b="1"/>
              <a:t>Tool count: 4-5 good · 18 bad</a:t>
            </a:r>
          </a:p>
          <a:p>
            <a:pPr/>
            <a:r>
              <a:rPr sz="2400" b="1"/>
              <a:t>stop_reason values: tool_use / end_turn</a:t>
            </a:r>
          </a:p>
          <a:p>
            <a:pPr/>
            <a:r>
              <a:rPr sz="2400" b="1"/>
              <a:t>tool_choice: auto / any / forced {type:tool,name:...}</a:t>
            </a:r>
          </a:p>
          <a:p>
            <a:pPr/>
            <a:r>
              <a:rPr sz="2400" b="1"/>
              <a:t>Error categories: transient / validation / business / permission</a:t>
            </a:r>
          </a:p>
          <a:p>
            <a:pPr/>
            <a:r>
              <a:rPr sz="2200"/>
              <a:t>Retake waits: 14 / 30 / 90 days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Anti-Patterns (Always Wrong Answers)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C00000"/>
                </a:solidFill>
              </a:rPr>
              <a:t>Stop loop on assistant text or iteration cap as primary mechanism</a:t>
            </a:r>
          </a:p>
          <a:p>
            <a:pPr/>
            <a:r>
              <a:rPr sz="2200">
                <a:solidFill>
                  <a:srgbClr val="C00000"/>
                </a:solidFill>
              </a:rPr>
              <a:t>Subagent-to-subagent direct chat (breaks hub-and-spoke)</a:t>
            </a:r>
          </a:p>
          <a:p>
            <a:pPr/>
            <a:r>
              <a:rPr sz="2200">
                <a:solidFill>
                  <a:srgbClr val="C00000"/>
                </a:solidFill>
              </a:rPr>
              <a:t>Assuming subagents inherit context automatically</a:t>
            </a:r>
          </a:p>
          <a:p>
            <a:pPr/>
            <a:r>
              <a:rPr sz="2200">
                <a:solidFill>
                  <a:srgbClr val="C00000"/>
                </a:solidFill>
              </a:rPr>
              <a:t>Generic error messages; treating errors as empty success; dying on one failure</a:t>
            </a:r>
          </a:p>
          <a:p>
            <a:pPr/>
            <a:r>
              <a:rPr sz="2200">
                <a:solidFill>
                  <a:srgbClr val="C00000"/>
                </a:solidFill>
              </a:rPr>
              <a:t>Prompt-based enforcement where guarantee required — use hooks</a:t>
            </a:r>
          </a:p>
          <a:p>
            <a:pPr/>
            <a:r>
              <a:rPr sz="2200">
                <a:solidFill>
                  <a:srgbClr val="C00000"/>
                </a:solidFill>
              </a:rPr>
              <a:t>Required schema fields for possibly-absent data (fabrication)</a:t>
            </a:r>
          </a:p>
          <a:p>
            <a:pPr/>
            <a:r>
              <a:rPr sz="2200">
                <a:solidFill>
                  <a:srgbClr val="C00000"/>
                </a:solidFill>
              </a:rPr>
              <a:t>Retrying when information is absent from source</a:t>
            </a:r>
          </a:p>
          <a:p>
            <a:pPr/>
            <a:r>
              <a:rPr sz="2200">
                <a:solidFill>
                  <a:srgbClr val="C00000"/>
                </a:solidFill>
              </a:rPr>
              <a:t>Batch API for blocking/pre-merge workloads</a:t>
            </a:r>
          </a:p>
          <a:p>
            <a:pPr/>
            <a:r>
              <a:rPr sz="2200">
                <a:solidFill>
                  <a:srgbClr val="C00000"/>
                </a:solidFill>
              </a:rPr>
              <a:t>Self-review of own generated code in same session</a:t>
            </a:r>
          </a:p>
          <a:p>
            <a:pPr/>
            <a:r>
              <a:rPr sz="2200">
                <a:solidFill>
                  <a:srgbClr val="C00000"/>
                </a:solidFill>
              </a:rPr>
              <a:t>Vague criteria: 'be conservative', 'high confidence only'</a:t>
            </a:r>
          </a:p>
          <a:p>
            <a:pPr/>
            <a:r>
              <a:rPr sz="2200">
                <a:solidFill>
                  <a:srgbClr val="C00000"/>
                </a:solidFill>
              </a:rPr>
              <a:t>Heuristic pick among multiple customer matches</a:t>
            </a:r>
          </a:p>
          <a:p>
            <a:pPr/>
            <a:r>
              <a:rPr sz="2200">
                <a:solidFill>
                  <a:srgbClr val="C00000"/>
                </a:solidFill>
              </a:rPr>
              <a:t>Secrets committed in .mcp.json — use ${ENV_VAR}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Locations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~/.claude/CLAUDE.md — user memory (private)</a:t>
            </a:r>
          </a:p>
          <a:p>
            <a:pPr/>
            <a:r>
              <a:rPr sz="2200"/>
              <a:t>CLAUDE.md / .claude/CLAUDE.md — project memory (shared)</a:t>
            </a:r>
          </a:p>
          <a:p>
            <a:pPr/>
            <a:r>
              <a:rPr sz="2200"/>
              <a:t>.claude/rules/ — conditional rules, YAML frontmatter + paths globs</a:t>
            </a:r>
          </a:p>
          <a:p>
            <a:pPr/>
            <a:r>
              <a:rPr sz="2200"/>
              <a:t>.claude/commands/ vs ~/.claude/commands/ — shared vs personal commands</a:t>
            </a:r>
          </a:p>
          <a:p>
            <a:pPr/>
            <a:r>
              <a:rPr sz="2200"/>
              <a:t>.claude/skills/ — SKILL.md + frontmatter (context: fork, allowed-tools, argument-hint)</a:t>
            </a:r>
          </a:p>
          <a:p>
            <a:pPr/>
            <a:r>
              <a:rPr sz="2200"/>
              <a:t>.mcp.json — project MCP servers (shared, ${ENV} expansion)</a:t>
            </a:r>
          </a:p>
          <a:p>
            <a:pPr/>
            <a:r>
              <a:rPr sz="2200"/>
              <a:t>~/.claude.json — user MCP servers (personal)</a:t>
            </a:r>
          </a:p>
          <a:p>
            <a:pPr/>
            <a:r>
              <a:rPr sz="2200"/>
              <a:t>--resume &lt;name&gt; · fork_session · /compact · /memory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Scenario questions: ask 'what guarantees does this need?' — guaranteed → programmatic (hooks, forced tool_choice, schemas)</a:t>
            </a:r>
          </a:p>
          <a:p>
            <a:pPr/>
            <a:r>
              <a:rPr sz="2200"/>
              <a:t>Probabilistic OK → prompts, examples, guidance</a:t>
            </a:r>
          </a:p>
          <a:p>
            <a:pPr/>
            <a:r>
              <a:rPr sz="2200"/>
              <a:t>Cost/latency tradeoffs: batch = cheap+slow, sync = expensive+instant</a:t>
            </a:r>
          </a:p>
          <a:p>
            <a:pPr/>
            <a:r>
              <a:rPr sz="2200"/>
              <a:t>Trust answers: stop_reason, isError, errorCategory, custom_id, detected_pattern, conflict_detected</a:t>
            </a:r>
          </a:p>
          <a:p>
            <a:pPr/>
            <a:r>
              <a:rPr sz="2200"/>
              <a:t>When two answers both 'work' — pick the one with STRUCTURE (explicit criteria, schema, summary block)</a:t>
            </a:r>
          </a:p>
          <a:p>
            <a:pPr/>
            <a:r>
              <a:rPr sz="2200"/>
              <a:t>Flag &amp; skip hard ones · 2 min/question average · no negative marking</a:t>
            </a:r>
          </a:p>
          <a:p>
            <a:pPr/>
            <a:r>
              <a:rPr sz="2200"/>
              <a:t>Next: free mock at claudecertificationguide.com/mock-exam — target 80%+ before booking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